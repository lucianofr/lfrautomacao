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1371600"/>
            <a:ext cx="4114800" cy="41148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47120" y="-731520"/>
            <a:ext cx="2743200" cy="2743200"/>
          </a:xfrm>
          <a:prstGeom prst="ellipse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97280" y="5852160"/>
            <a:ext cx="2926080" cy="29260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303520"/>
            <a:ext cx="12188952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PARCERIA ESTRATÉGICA  ·  ESPÍRITO SANTO  ·  BRASIL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09728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Soluções de Controle Avançado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F2B5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a Indústria 4.0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8686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 · Inteligência Artificial · Visão Computacional · Edge Computing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de Automação · Instrumentação · Redes Industriais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5440680"/>
            <a:ext cx="10972800" cy="9144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mage 0" descr="/tmp/lfr-pptx/assets/lfr-icon-bi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5577840"/>
            <a:ext cx="640080" cy="6400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600200" y="565099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LFR Automação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600200" y="5989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Consultoria &amp; Controle Avançado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669280" y="557784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</a:t>
            </a:r>
            <a:endParaRPr lang="en-US" sz="3200" dirty="0"/>
          </a:p>
        </p:txBody>
      </p:sp>
      <p:pic>
        <p:nvPicPr>
          <p:cNvPr id="15" name="Image 1" descr="/tmp/lfr-pptx/assets/triade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5669280"/>
            <a:ext cx="1463040" cy="53035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955280" y="577900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de Automação &amp; Instrumentação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640080" y="65105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www.lfrautomacao.eng.br   ·   www.triadeautomacao.com.br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EE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PARCERIA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430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Duas empresas, uma proposta única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de campo + ciência de dados industrial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011680"/>
            <a:ext cx="5349240" cy="4023360"/>
          </a:xfrm>
          <a:prstGeom prst="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09360" y="2011680"/>
            <a:ext cx="5349240" cy="4023360"/>
          </a:xfrm>
          <a:prstGeom prst="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011680"/>
            <a:ext cx="5349240" cy="914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2011680"/>
            <a:ext cx="5349240" cy="91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0" name="Image 0" descr="/tmp/lfr-pptx/assets/lfr-icon-bi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331720"/>
            <a:ext cx="640080" cy="6400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08760" y="23317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LFR Automação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508760" y="27432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Consultoria especializada em controle avançado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77240" y="3246120"/>
            <a:ext cx="480060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 </a:t>
            </a:r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MPC, Fuzzy Logic, Reinforcement Learning
</a:t>
            </a:r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&amp; Visão Computacional </a:t>
            </a:r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soft sensors, YOLO, segmentação
</a:t>
            </a:r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Computing </a:t>
            </a:r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inferência local, baixa latência
</a:t>
            </a:r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</a:t>
            </a:r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OPC-UA, Modbus, IIoT</a:t>
            </a:r>
            <a:endParaRPr lang="en-US" sz="1300" dirty="0"/>
          </a:p>
        </p:txBody>
      </p:sp>
      <p:pic>
        <p:nvPicPr>
          <p:cNvPr id="14" name="Image 1" descr="/tmp/lfr-pptx/assets/triade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331720"/>
            <a:ext cx="1554480" cy="56692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229600" y="23317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Tríade Automação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8229600" y="27432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de automação &amp; instrumentação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583680" y="3246120"/>
            <a:ext cx="480060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 </a:t>
            </a:r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básico, detalhado, painéis e As-built
</a:t>
            </a:r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Controle </a:t>
            </a:r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CLP, SDCD, supervisórios multi-fabricante
</a:t>
            </a:r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Industriais </a:t>
            </a:r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Profibus, Foundation Fieldbus, HART
</a:t>
            </a:r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Comissionamento </a:t>
            </a:r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testes, operação assistida, treinamentos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502920" y="5669280"/>
            <a:ext cx="11155680" cy="548640"/>
          </a:xfrm>
          <a:prstGeom prst="rect">
            <a:avLst>
              <a:gd name="adj" fmla="val 10000"/>
            </a:avLst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77240" y="56692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Sinergia: software industrial avançado da LFR + execução de campo e instrumentação da Tríade.</a:t>
            </a:r>
            <a:endParaRPr lang="en-US" sz="1300" dirty="0"/>
          </a:p>
        </p:txBody>
      </p:sp>
      <p:pic>
        <p:nvPicPr>
          <p:cNvPr id="20" name="Image 2" descr="/tmp/lfr-pptx/assets/lfr-ic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510528"/>
            <a:ext cx="201168" cy="20116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49808" y="646480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LFR Automação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2212848" y="646480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2377440" y="646480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Tríade Automação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9875520" y="64648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Parceria Estratégica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É A LFR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430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Controle avançado para o chão de fábrica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Consultoria especializada em otimização de processos industriais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920240"/>
            <a:ext cx="65836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LFR Automação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 o processo industrial a um patamar superior através de:
</a:t>
            </a:r>
            <a:pPr indent="0" marL="0">
              <a:lnSpc>
                <a:spcPct val="130000"/>
              </a:lnSpc>
              <a:buNone/>
            </a:pPr>
            <a:r>
              <a:rPr lang="en-US" sz="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APC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(Advanced Process Control) — MPC e Fuzzy
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Inteligência Artificial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aplicada a malhas e qualidade
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Visão Computacional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inspeção e segurança
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Arquiteturas Edge Computing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robustas
</a:t>
            </a:r>
            <a:pPr indent="0" marL="0">
              <a:lnSpc>
                <a:spcPct val="130000"/>
              </a:lnSpc>
              <a:buNone/>
            </a:pPr>
            <a:r>
              <a:rPr lang="en-US" sz="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Abordagem baseada em fundamentos de engenharia — não em "caixas pretas".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0" y="1965960"/>
            <a:ext cx="4434840" cy="4114800"/>
          </a:xfrm>
          <a:prstGeom prst="rect">
            <a:avLst>
              <a:gd name="adj" fmla="val 2667"/>
            </a:avLst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0" y="1965960"/>
            <a:ext cx="91440" cy="41148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0" y="21031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ESPECIALISTA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589520" y="237744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Luciano França Rocha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589520" y="28346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de Controle · IA · Edge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589520" y="3246120"/>
            <a:ext cx="40233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Trajetória nas indústrias de </a:t>
            </a:r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mineração e siderurgia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desde pelotização até laminação. Pesquisa em medição online em tempo real e metodologias como </a:t>
            </a:r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DFSS (Design for Six Sigma)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 ambientes industriais críticos.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5349240"/>
            <a:ext cx="2057400" cy="777240"/>
          </a:xfrm>
          <a:prstGeom prst="rect">
            <a:avLst>
              <a:gd name="adj" fmla="val 9412"/>
            </a:avLst>
          </a:prstGeom>
          <a:solidFill>
            <a:srgbClr val="E8EEF5"/>
          </a:solidFill>
          <a:ln w="12700">
            <a:solidFill>
              <a:srgbClr val="D6DE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5376672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APC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02920" y="576072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MPC + Fuzzy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0" y="5349240"/>
            <a:ext cx="2057400" cy="777240"/>
          </a:xfrm>
          <a:prstGeom prst="rect">
            <a:avLst>
              <a:gd name="adj" fmla="val 9412"/>
            </a:avLst>
          </a:prstGeom>
          <a:solidFill>
            <a:srgbClr val="E8EEF5"/>
          </a:solidFill>
          <a:ln w="12700">
            <a:solidFill>
              <a:srgbClr val="D6DE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5376672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IA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743200" y="576072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sensors &amp; RL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83480" y="5349240"/>
            <a:ext cx="2057400" cy="777240"/>
          </a:xfrm>
          <a:prstGeom prst="rect">
            <a:avLst>
              <a:gd name="adj" fmla="val 9412"/>
            </a:avLst>
          </a:prstGeom>
          <a:solidFill>
            <a:srgbClr val="E8EEF5"/>
          </a:solidFill>
          <a:ln w="12700">
            <a:solidFill>
              <a:srgbClr val="D6DE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5376672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Edge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983480" y="576072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&amp; seguro</a:t>
            </a:r>
            <a:endParaRPr lang="en-US" sz="1000" dirty="0"/>
          </a:p>
        </p:txBody>
      </p:sp>
      <p:pic>
        <p:nvPicPr>
          <p:cNvPr id="22" name="Image 0" descr="/tmp/lfr-pptx/assets/lfr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510528"/>
            <a:ext cx="201168" cy="20116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749808" y="646480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LFR Automação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2212848" y="646480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2377440" y="646480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Tríade Automação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9875520" y="64648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Parceria Estratégica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É A TRÍADE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430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Engenharia capixaba de automação industrial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Soluções completas em automação e instrumentação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965960"/>
            <a:ext cx="4892040" cy="1371600"/>
          </a:xfrm>
          <a:prstGeom prst="rect">
            <a:avLst>
              <a:gd name="adj" fmla="val 8000"/>
            </a:avLst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pic>
        <p:nvPicPr>
          <p:cNvPr id="7" name="Image 0" descr="/tmp/lfr-pptx/assets/triade-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88720" y="2240280"/>
            <a:ext cx="3520440" cy="8686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3520440"/>
            <a:ext cx="489204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capixaba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voltada para soluções completas em engenharia de automação e instrumentação, com estado da arte das tecnologias.
</a:t>
            </a:r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Profissionais com vasta experiência em projetos nas principais indústrias capixabas.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623560" y="1965960"/>
            <a:ext cx="1920240" cy="3977640"/>
          </a:xfrm>
          <a:prstGeom prst="rect">
            <a:avLst>
              <a:gd name="adj" fmla="val 4762"/>
            </a:avLst>
          </a:prstGeom>
          <a:solidFill>
            <a:srgbClr val="E8EEF5"/>
          </a:solidFill>
          <a:ln w="12700">
            <a:solidFill>
              <a:srgbClr val="D6DE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623560" y="1965960"/>
            <a:ext cx="1920240" cy="10972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88152" y="219456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MISSÃO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788152" y="2606040"/>
            <a:ext cx="1600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Prover otimizações e soluções inéditas em automação e instrumentação industrial.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680960" y="1965960"/>
            <a:ext cx="1920240" cy="3977640"/>
          </a:xfrm>
          <a:prstGeom prst="rect">
            <a:avLst>
              <a:gd name="adj" fmla="val 4762"/>
            </a:avLst>
          </a:prstGeom>
          <a:solidFill>
            <a:srgbClr val="E8EEF5"/>
          </a:solidFill>
          <a:ln w="12700">
            <a:solidFill>
              <a:srgbClr val="D6DEE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680960" y="1965960"/>
            <a:ext cx="1920240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45552" y="219456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845552" y="2606040"/>
            <a:ext cx="1600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 referência reconhecida pela excelência em serviços e relacionamento.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9738360" y="1965960"/>
            <a:ext cx="1920240" cy="3977640"/>
          </a:xfrm>
          <a:prstGeom prst="rect">
            <a:avLst>
              <a:gd name="adj" fmla="val 4762"/>
            </a:avLst>
          </a:prstGeom>
          <a:solidFill>
            <a:srgbClr val="E8EEF5"/>
          </a:solidFill>
          <a:ln w="12700">
            <a:solidFill>
              <a:srgbClr val="D6DEE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738360" y="1965960"/>
            <a:ext cx="1920240" cy="109728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902952" y="219456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9902952" y="2606040"/>
            <a:ext cx="1600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Ética, comprometimento, transparência e aprimoramento contínuo.</a:t>
            </a:r>
            <a:endParaRPr lang="en-US" sz="1200" dirty="0"/>
          </a:p>
        </p:txBody>
      </p:sp>
      <p:pic>
        <p:nvPicPr>
          <p:cNvPr id="21" name="Image 1" descr="/tmp/lfr-pptx/assets/lfr-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510528"/>
            <a:ext cx="201168" cy="20116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49808" y="646480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LFR Automação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2212848" y="646480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2377440" y="646480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Tríade Automação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9875520" y="64648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Parceria Estratégica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EE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430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Setores industriais atendidos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Experiência consolidada em ambientes críticos e regulados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011680"/>
            <a:ext cx="2606040" cy="182880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304288"/>
            <a:ext cx="502920" cy="50292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3042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9718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Mineração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77240" y="33832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Pelotização, britagem, peneiramento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37560" y="2011680"/>
            <a:ext cx="2606040" cy="182880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11880" y="2304288"/>
            <a:ext cx="502920" cy="50292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11880" y="23042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11880" y="29718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Siderurgia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611880" y="33832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Laminação, fornos, lingotamento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72200" y="2011680"/>
            <a:ext cx="2606040" cy="182880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46520" y="2304288"/>
            <a:ext cx="502920" cy="50292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23042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46520" y="29718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Papel &amp; Celulose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446520" y="33832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Branqueamento, recuperação química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006840" y="2011680"/>
            <a:ext cx="2606040" cy="182880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81160" y="2304288"/>
            <a:ext cx="502920" cy="50292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81160" y="23042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281160" y="29718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Alimentício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281160" y="33832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Processos contínuos e batch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" y="4023360"/>
            <a:ext cx="2606040" cy="182880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4315968"/>
            <a:ext cx="502920" cy="50292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4315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77240" y="4983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Cerâmico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777240" y="53949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Fornos, secadores, atomização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337560" y="4023360"/>
            <a:ext cx="2606040" cy="182880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11880" y="4315968"/>
            <a:ext cx="502920" cy="50292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11880" y="4315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611880" y="4983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Químico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3611880" y="53949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Reatores, destilação, mistura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72200" y="4023360"/>
            <a:ext cx="2606040" cy="182880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46520" y="4315968"/>
            <a:ext cx="502920" cy="50292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46520" y="4315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446520" y="4983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Petróleo &amp; Gás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6446520" y="53949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Plataformas, refino, dutos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9006840" y="4023360"/>
            <a:ext cx="2606040" cy="182880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281160" y="4315968"/>
            <a:ext cx="502920" cy="50292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281160" y="4315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9281160" y="4983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Energia &amp; UPS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9281160" y="53949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Subestações, nobreaks, demanda</a:t>
            </a:r>
            <a:endParaRPr lang="en-US" sz="1000" dirty="0"/>
          </a:p>
        </p:txBody>
      </p:sp>
      <p:pic>
        <p:nvPicPr>
          <p:cNvPr id="46" name="Image 0" descr="/tmp/lfr-pptx/assets/lfr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510528"/>
            <a:ext cx="201168" cy="201168"/>
          </a:xfrm>
          <a:prstGeom prst="rect">
            <a:avLst/>
          </a:prstGeom>
        </p:spPr>
      </p:pic>
      <p:sp>
        <p:nvSpPr>
          <p:cNvPr id="47" name="Text 44"/>
          <p:cNvSpPr/>
          <p:nvPr/>
        </p:nvSpPr>
        <p:spPr>
          <a:xfrm>
            <a:off x="749808" y="646480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LFR Automação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2212848" y="646480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2377440" y="646480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Tríade Automação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9875520" y="64648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Parceria Estratégica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DE PRECISÃO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430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 tecnológico LFR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engenharia aplicados à fronteira computacional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011680"/>
            <a:ext cx="5486400" cy="1920240"/>
          </a:xfrm>
          <a:prstGeom prst="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2011680"/>
            <a:ext cx="109728" cy="1920240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286000"/>
            <a:ext cx="594360" cy="594360"/>
          </a:xfrm>
          <a:prstGeom prst="ellipse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286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554480" y="228600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Controle Avançado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554480" y="278892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MPC, Fuzzy Logic, controle preditivo e adaptativo para malhas críticas.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2011680"/>
            <a:ext cx="5486400" cy="1920240"/>
          </a:xfrm>
          <a:prstGeom prst="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2011680"/>
            <a:ext cx="109728" cy="19202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37960" y="2286000"/>
            <a:ext cx="594360" cy="5943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2286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269480" y="228600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Machine Learning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269480" y="278892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PLS, LSTM, Reinforcement Learning e soft sensors em tempo real.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" y="4114800"/>
            <a:ext cx="5486400" cy="1920240"/>
          </a:xfrm>
          <a:prstGeom prst="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4114800"/>
            <a:ext cx="109728" cy="19202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4389120"/>
            <a:ext cx="594360" cy="59436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3891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554480" y="438912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Visão Computacional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1554480" y="489204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YOLO26, segmentação e inspeção de qualidade integradas ao CLP.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17920" y="4114800"/>
            <a:ext cx="5486400" cy="1920240"/>
          </a:xfrm>
          <a:prstGeom prst="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4114800"/>
            <a:ext cx="109728" cy="1920240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37960" y="4389120"/>
            <a:ext cx="594360" cy="594360"/>
          </a:xfrm>
          <a:prstGeom prst="ellipse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43891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269480" y="438912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Edge Computing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7269480" y="489204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Processamento local — latência mínima e segurança cibernética.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02920" y="6263640"/>
            <a:ext cx="11155680" cy="1645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pic>
        <p:nvPicPr>
          <p:cNvPr id="31" name="Image 0" descr="/tmp/lfr-pptx/assets/lfr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510528"/>
            <a:ext cx="201168" cy="201168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749808" y="646480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LFR Automação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2212848" y="646480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2377440" y="646480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Tríade Automação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9875520" y="64648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Parceria Estratégica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EE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SERVIÇOS TRÍADE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430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Engenharia de automação ponta a ponta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projeto conceitual à operação assistida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011680"/>
            <a:ext cx="3611880" cy="1920240"/>
          </a:xfrm>
          <a:prstGeom prst="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3858768"/>
            <a:ext cx="3611880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1945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B5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31520" y="26517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Projetos de Engenharia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306324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Básico, detalhado, painéis elétricos, As-built, redes industriais, plano diretor.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79392" y="2011680"/>
            <a:ext cx="3611880" cy="1920240"/>
          </a:xfrm>
          <a:prstGeom prst="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79392" y="3858768"/>
            <a:ext cx="3611880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07992" y="21945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B5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507992" y="26517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Engenharia de Automação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07992" y="306324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CLP, SDCD, supervisórios, integração multi-fabricante, alarmes, comissionamento.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55864" y="2011680"/>
            <a:ext cx="3611880" cy="1920240"/>
          </a:xfrm>
          <a:prstGeom prst="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55864" y="3858768"/>
            <a:ext cx="3611880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84464" y="21945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B5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8284464" y="26517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Sistemas de Supervisão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84464" y="306324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Siemens, Rockwell, Emerson DeltaV, GE Fanuc, Schneider, iFix, Citect, Elipse, InTouch.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4114800"/>
            <a:ext cx="3611880" cy="1920240"/>
          </a:xfrm>
          <a:prstGeom prst="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5961888"/>
            <a:ext cx="3611880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2976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B5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731520" y="47548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Redes Industriais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31520" y="516636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Profibus, Foundation Fieldbus, HART, Modbus, AS-i, DeviceNet — engenheiro certificado.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279392" y="4114800"/>
            <a:ext cx="3611880" cy="1920240"/>
          </a:xfrm>
          <a:prstGeom prst="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79392" y="5961888"/>
            <a:ext cx="3611880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07992" y="42976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B5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4507992" y="47548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Treinamentos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507992" y="516636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controle, supervisórios, redes de campo, instrumentação e operacionais.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055864" y="4114800"/>
            <a:ext cx="3611880" cy="1920240"/>
          </a:xfrm>
          <a:prstGeom prst="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55864" y="5961888"/>
            <a:ext cx="3611880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84464" y="42976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B5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8284464" y="47548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Desenvolvimento de Soluções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284464" y="516636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Produtos, circuitos eletrônicos e soluções customizadas quando não há no mercado.</a:t>
            </a:r>
            <a:endParaRPr lang="en-US" sz="1100" dirty="0"/>
          </a:p>
        </p:txBody>
      </p:sp>
      <p:pic>
        <p:nvPicPr>
          <p:cNvPr id="36" name="Image 0" descr="/tmp/lfr-pptx/assets/lfr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510528"/>
            <a:ext cx="201168" cy="201168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749808" y="646480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LFR Automação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2212848" y="646480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2377440" y="646480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Tríade Automação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9875520" y="64648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Parceria Estratégica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PORTFÓLIO DE SOLUÇÕES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430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 produtos LFR + Tríade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Plataformas e produtos prontos para integração industrial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2606040" cy="1280160"/>
          </a:xfrm>
          <a:prstGeom prst="rect">
            <a:avLst>
              <a:gd name="adj" fmla="val 7143"/>
            </a:avLst>
          </a:prstGeom>
          <a:solidFill>
            <a:srgbClr val="E8EEF5"/>
          </a:solidFill>
          <a:ln w="12700">
            <a:solidFill>
              <a:srgbClr val="D6DE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920240"/>
            <a:ext cx="260604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121408"/>
            <a:ext cx="365760" cy="36576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21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43000" y="2084832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PID Edge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263347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· RL · PID Tuning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37560" y="1920240"/>
            <a:ext cx="2606040" cy="1280160"/>
          </a:xfrm>
          <a:prstGeom prst="rect">
            <a:avLst>
              <a:gd name="adj" fmla="val 7143"/>
            </a:avLst>
          </a:prstGeom>
          <a:solidFill>
            <a:srgbClr val="E8EEF5"/>
          </a:solidFill>
          <a:ln w="12700">
            <a:solidFill>
              <a:srgbClr val="D6DE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37560" y="1920240"/>
            <a:ext cx="2606040" cy="73152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0440" y="2121408"/>
            <a:ext cx="365760" cy="365760"/>
          </a:xfrm>
          <a:prstGeom prst="ellipse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0440" y="2121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977640" y="2084832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SafeGuard Vision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520440" y="263347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YOLO26 · CLP · E-Stop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72200" y="1920240"/>
            <a:ext cx="2606040" cy="1280160"/>
          </a:xfrm>
          <a:prstGeom prst="rect">
            <a:avLst>
              <a:gd name="adj" fmla="val 7143"/>
            </a:avLst>
          </a:prstGeom>
          <a:solidFill>
            <a:srgbClr val="E8EEF5"/>
          </a:solidFill>
          <a:ln w="12700">
            <a:solidFill>
              <a:srgbClr val="D6DE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72200" y="1920240"/>
            <a:ext cx="2606040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55080" y="2121408"/>
            <a:ext cx="365760" cy="3657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2121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12280" y="2084832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SensorPredict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55080" y="263347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Sensors · PLS · LSTM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006840" y="1920240"/>
            <a:ext cx="2606040" cy="1280160"/>
          </a:xfrm>
          <a:prstGeom prst="rect">
            <a:avLst>
              <a:gd name="adj" fmla="val 7143"/>
            </a:avLst>
          </a:prstGeom>
          <a:solidFill>
            <a:srgbClr val="E8EEF5"/>
          </a:solidFill>
          <a:ln w="12700">
            <a:solidFill>
              <a:srgbClr val="D6DE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06840" y="1920240"/>
            <a:ext cx="2606040" cy="73152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89720" y="2121408"/>
            <a:ext cx="365760" cy="365760"/>
          </a:xfrm>
          <a:prstGeom prst="ellipse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89720" y="2121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646920" y="2084832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VirtualSieve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189720" y="263347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Granulometria · Visão CV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02920" y="3337560"/>
            <a:ext cx="2606040" cy="1280160"/>
          </a:xfrm>
          <a:prstGeom prst="rect">
            <a:avLst>
              <a:gd name="adj" fmla="val 7143"/>
            </a:avLst>
          </a:prstGeom>
          <a:solidFill>
            <a:srgbClr val="E8EEF5"/>
          </a:solidFill>
          <a:ln w="12700">
            <a:solidFill>
              <a:srgbClr val="D6DE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" y="3337560"/>
            <a:ext cx="260604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5800" y="3538728"/>
            <a:ext cx="365760" cy="36576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3538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43000" y="3502152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OpcUA Wrapper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85800" y="405079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 DA → OPC-UA · Windows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337560" y="3337560"/>
            <a:ext cx="2606040" cy="1280160"/>
          </a:xfrm>
          <a:prstGeom prst="rect">
            <a:avLst>
              <a:gd name="adj" fmla="val 7143"/>
            </a:avLst>
          </a:prstGeom>
          <a:solidFill>
            <a:srgbClr val="E8EEF5"/>
          </a:solidFill>
          <a:ln w="12700">
            <a:solidFill>
              <a:srgbClr val="D6DEE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337560" y="3337560"/>
            <a:ext cx="2606040" cy="73152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520440" y="3538728"/>
            <a:ext cx="365760" cy="365760"/>
          </a:xfrm>
          <a:prstGeom prst="ellipse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20440" y="3538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977640" y="3502152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Tríade Energia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3520440" y="405079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KPIs · Demanda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172200" y="3337560"/>
            <a:ext cx="2606040" cy="1280160"/>
          </a:xfrm>
          <a:prstGeom prst="rect">
            <a:avLst>
              <a:gd name="adj" fmla="val 7143"/>
            </a:avLst>
          </a:prstGeom>
          <a:solidFill>
            <a:srgbClr val="E8EEF5"/>
          </a:solidFill>
          <a:ln w="12700">
            <a:solidFill>
              <a:srgbClr val="D6DEE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172200" y="3337560"/>
            <a:ext cx="2606040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55080" y="3538728"/>
            <a:ext cx="365760" cy="3657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55080" y="3538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812280" y="3502152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UPS-Monitor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355080" y="405079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SNMP · LoRaWAN · Telemetria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9006840" y="3337560"/>
            <a:ext cx="2606040" cy="1280160"/>
          </a:xfrm>
          <a:prstGeom prst="rect">
            <a:avLst>
              <a:gd name="adj" fmla="val 7143"/>
            </a:avLst>
          </a:prstGeom>
          <a:solidFill>
            <a:srgbClr val="E8EEF5"/>
          </a:solidFill>
          <a:ln w="12700">
            <a:solidFill>
              <a:srgbClr val="D6DEE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006840" y="3337560"/>
            <a:ext cx="2606040" cy="73152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189720" y="3538728"/>
            <a:ext cx="365760" cy="365760"/>
          </a:xfrm>
          <a:prstGeom prst="ellipse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189720" y="3538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9646920" y="3502152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TermoCar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9189720" y="405079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Termopares · Medição Térmica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502920" y="4754880"/>
            <a:ext cx="2606040" cy="1280160"/>
          </a:xfrm>
          <a:prstGeom prst="rect">
            <a:avLst>
              <a:gd name="adj" fmla="val 7143"/>
            </a:avLst>
          </a:prstGeom>
          <a:solidFill>
            <a:srgbClr val="E8EEF5"/>
          </a:solidFill>
          <a:ln w="12700">
            <a:solidFill>
              <a:srgbClr val="D6DEE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02920" y="4754880"/>
            <a:ext cx="260604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85800" y="4956048"/>
            <a:ext cx="365760" cy="36576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85800" y="4956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1143000" y="4919472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MENTOR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685800" y="546811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· LLM Local · ISA-18.2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3337560" y="4754880"/>
            <a:ext cx="2606040" cy="1280160"/>
          </a:xfrm>
          <a:prstGeom prst="rect">
            <a:avLst>
              <a:gd name="adj" fmla="val 7143"/>
            </a:avLst>
          </a:prstGeom>
          <a:solidFill>
            <a:srgbClr val="E8EEF5"/>
          </a:solidFill>
          <a:ln w="12700">
            <a:solidFill>
              <a:srgbClr val="D6DEE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337560" y="4754880"/>
            <a:ext cx="2606040" cy="73152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520440" y="4956048"/>
            <a:ext cx="365760" cy="365760"/>
          </a:xfrm>
          <a:prstGeom prst="ellipse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520440" y="4956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3977640" y="4919472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TAM</a:t>
            </a:r>
            <a:endParaRPr lang="en-US" sz="1400" dirty="0"/>
          </a:p>
        </p:txBody>
      </p:sp>
      <p:sp>
        <p:nvSpPr>
          <p:cNvPr id="65" name="Text 63"/>
          <p:cNvSpPr/>
          <p:nvPr/>
        </p:nvSpPr>
        <p:spPr>
          <a:xfrm>
            <a:off x="3520440" y="546811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WHART · TimescaleDB · OPC-UA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6172200" y="4754880"/>
            <a:ext cx="2606040" cy="1280160"/>
          </a:xfrm>
          <a:prstGeom prst="rect">
            <a:avLst>
              <a:gd name="adj" fmla="val 7143"/>
            </a:avLst>
          </a:prstGeom>
          <a:solidFill>
            <a:srgbClr val="E8EEF5"/>
          </a:solidFill>
          <a:ln w="12700">
            <a:solidFill>
              <a:srgbClr val="D6DEE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172200" y="4754880"/>
            <a:ext cx="2606040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355080" y="4956048"/>
            <a:ext cx="365760" cy="3657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355080" y="4956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6812280" y="4919472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OttimaSystem</a:t>
            </a:r>
            <a:endParaRPr lang="en-US" sz="1400" dirty="0"/>
          </a:p>
        </p:txBody>
      </p:sp>
      <p:sp>
        <p:nvSpPr>
          <p:cNvPr id="71" name="Text 69"/>
          <p:cNvSpPr/>
          <p:nvPr/>
        </p:nvSpPr>
        <p:spPr>
          <a:xfrm>
            <a:off x="6355080" y="546811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MPC · do-mpc · gRPC · Angular</a:t>
            </a:r>
            <a:endParaRPr lang="en-US" sz="950" dirty="0"/>
          </a:p>
        </p:txBody>
      </p:sp>
      <p:pic>
        <p:nvPicPr>
          <p:cNvPr id="72" name="Image 0" descr="/tmp/lfr-pptx/assets/lfr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510528"/>
            <a:ext cx="201168" cy="201168"/>
          </a:xfrm>
          <a:prstGeom prst="rect">
            <a:avLst/>
          </a:prstGeom>
        </p:spPr>
      </p:pic>
      <p:sp>
        <p:nvSpPr>
          <p:cNvPr id="73" name="Text 70"/>
          <p:cNvSpPr/>
          <p:nvPr/>
        </p:nvSpPr>
        <p:spPr>
          <a:xfrm>
            <a:off x="749808" y="646480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LFR Automação</a:t>
            </a:r>
            <a:endParaRPr lang="en-US" sz="900" dirty="0"/>
          </a:p>
        </p:txBody>
      </p:sp>
      <p:sp>
        <p:nvSpPr>
          <p:cNvPr id="74" name="Text 71"/>
          <p:cNvSpPr/>
          <p:nvPr/>
        </p:nvSpPr>
        <p:spPr>
          <a:xfrm>
            <a:off x="2212848" y="646480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100" dirty="0"/>
          </a:p>
        </p:txBody>
      </p:sp>
      <p:sp>
        <p:nvSpPr>
          <p:cNvPr id="75" name="Text 72"/>
          <p:cNvSpPr/>
          <p:nvPr/>
        </p:nvSpPr>
        <p:spPr>
          <a:xfrm>
            <a:off x="2377440" y="646480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Tríade Automação</a:t>
            </a:r>
            <a:endParaRPr lang="en-US" sz="900" dirty="0"/>
          </a:p>
        </p:txBody>
      </p:sp>
      <p:sp>
        <p:nvSpPr>
          <p:cNvPr id="76" name="Text 73"/>
          <p:cNvSpPr/>
          <p:nvPr/>
        </p:nvSpPr>
        <p:spPr>
          <a:xfrm>
            <a:off x="9875520" y="64648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Parceria Estratégica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01 / 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430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PID Edge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Otimização autônoma de malhas PID na borda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5852160" cy="4251960"/>
          </a:xfrm>
          <a:prstGeom prst="rect">
            <a:avLst>
              <a:gd name="adj" fmla="val 2581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pic>
        <p:nvPicPr>
          <p:cNvPr id="7" name="Image 0" descr="/tmp/lfr-pptx/assets/smartpi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2057400"/>
            <a:ext cx="5577840" cy="3977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583680" y="1920240"/>
            <a:ext cx="5120640" cy="4251960"/>
          </a:xfrm>
          <a:prstGeom prst="rect">
            <a:avLst>
              <a:gd name="adj" fmla="val 2581"/>
            </a:avLst>
          </a:prstGeom>
          <a:solidFill>
            <a:srgbClr val="E8EEF5"/>
          </a:solidFill>
          <a:ln w="12700">
            <a:solidFill>
              <a:srgbClr val="D6DEE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583680" y="1920240"/>
            <a:ext cx="5120640" cy="914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972800" y="2194560"/>
            <a:ext cx="548640" cy="54864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9728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858000" y="22402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858000" y="2578608"/>
            <a:ext cx="45720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headless que ajusta malhas PID em tempo real combinando Lógica Fuzzy e Aprendizado por Reforço (RL). Substitui o tuning manual periódico por adaptação contínua.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858000" y="40690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858000" y="4370832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Logic + Reinforcement Learning híbridos
</a:t>
            </a:r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 headless (sem HMI dedicada)
</a:t>
            </a:r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— latência mínima junto ao processo
</a:t>
            </a:r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Compatível com CLPs e SDCDs via OPC-UA
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858000" y="5669280"/>
            <a:ext cx="1056132" cy="310896"/>
          </a:xfrm>
          <a:prstGeom prst="rect">
            <a:avLst>
              <a:gd name="adj" fmla="val 50000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58000" y="5669280"/>
            <a:ext cx="10561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Logic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8005572" y="5669280"/>
            <a:ext cx="356616" cy="310896"/>
          </a:xfrm>
          <a:prstGeom prst="rect">
            <a:avLst>
              <a:gd name="adj" fmla="val 50000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05572" y="5669280"/>
            <a:ext cx="356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8453628" y="5669280"/>
            <a:ext cx="978408" cy="310896"/>
          </a:xfrm>
          <a:prstGeom prst="rect">
            <a:avLst>
              <a:gd name="adj" fmla="val 50000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453628" y="5669280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Tuning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9523476" y="5669280"/>
            <a:ext cx="512064" cy="310896"/>
          </a:xfrm>
          <a:prstGeom prst="rect">
            <a:avLst>
              <a:gd name="adj" fmla="val 50000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523476" y="5669280"/>
            <a:ext cx="51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900" dirty="0"/>
          </a:p>
        </p:txBody>
      </p:sp>
      <p:pic>
        <p:nvPicPr>
          <p:cNvPr id="24" name="Image 1" descr="/tmp/lfr-pptx/assets/lfr-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510528"/>
            <a:ext cx="201168" cy="20116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749808" y="646480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LFR Automação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2212848" y="646480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2377440" y="646480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Tríade Automação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9875520" y="64648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Parceria Estratégica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02 / 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430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SafeGuard Vision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industrial autônoma com visão computacional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5852160" cy="4251960"/>
          </a:xfrm>
          <a:prstGeom prst="rect">
            <a:avLst>
              <a:gd name="adj" fmla="val 2581"/>
            </a:avLst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pic>
        <p:nvPicPr>
          <p:cNvPr id="7" name="Image 0" descr="/tmp/lfr-pptx/assets/safeguard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2057400"/>
            <a:ext cx="5577840" cy="3977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583680" y="1920240"/>
            <a:ext cx="5120640" cy="4251960"/>
          </a:xfrm>
          <a:prstGeom prst="rect">
            <a:avLst>
              <a:gd name="adj" fmla="val 2581"/>
            </a:avLst>
          </a:prstGeom>
          <a:solidFill>
            <a:srgbClr val="E8EEF5"/>
          </a:solidFill>
          <a:ln w="12700">
            <a:solidFill>
              <a:srgbClr val="D6DEE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583680" y="1920240"/>
            <a:ext cx="5120640" cy="91440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972800" y="2194560"/>
            <a:ext cx="548640" cy="548640"/>
          </a:xfrm>
          <a:prstGeom prst="ellipse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9728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858000" y="22402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858000" y="2578608"/>
            <a:ext cx="45720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intrusões e situações de risco em áreas críticas usando YOLO26 e dispara parada de emergência diretamente no CLP — sem intervenção humana.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858000" y="40690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858000" y="4370832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Detecção YOLO26 em tempo real
</a:t>
            </a:r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Modbus / OPC-UA com CLP
</a:t>
            </a:r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Acionamento autônomo de E-Stop
</a:t>
            </a:r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— opera sem dependência de cloud
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858000" y="5669280"/>
            <a:ext cx="667512" cy="310896"/>
          </a:xfrm>
          <a:prstGeom prst="rect">
            <a:avLst>
              <a:gd name="adj" fmla="val 50000"/>
            </a:avLst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58000" y="5669280"/>
            <a:ext cx="667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YOLO26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7616952" y="5669280"/>
            <a:ext cx="822960" cy="310896"/>
          </a:xfrm>
          <a:prstGeom prst="rect">
            <a:avLst>
              <a:gd name="adj" fmla="val 50000"/>
            </a:avLst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616952" y="566928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CV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8531352" y="5669280"/>
            <a:ext cx="667512" cy="310896"/>
          </a:xfrm>
          <a:prstGeom prst="rect">
            <a:avLst>
              <a:gd name="adj" fmla="val 50000"/>
            </a:avLst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531352" y="5669280"/>
            <a:ext cx="667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Modbus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9290304" y="5669280"/>
            <a:ext cx="667512" cy="310896"/>
          </a:xfrm>
          <a:prstGeom prst="rect">
            <a:avLst>
              <a:gd name="adj" fmla="val 50000"/>
            </a:avLst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290304" y="5669280"/>
            <a:ext cx="667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OPC-UA</a:t>
            </a:r>
            <a:endParaRPr lang="en-US" sz="900" dirty="0"/>
          </a:p>
        </p:txBody>
      </p:sp>
      <p:pic>
        <p:nvPicPr>
          <p:cNvPr id="24" name="Image 1" descr="/tmp/lfr-pptx/assets/lfr-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510528"/>
            <a:ext cx="201168" cy="20116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749808" y="646480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LFR Automação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2212848" y="646480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2377440" y="646480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Tríade Automação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9875520" y="64648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Parceria Estratégica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03 / 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430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SensorPredict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sensors inteligentes para variáveis críticas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5852160" cy="4251960"/>
          </a:xfrm>
          <a:prstGeom prst="rect">
            <a:avLst>
              <a:gd name="adj" fmla="val 2581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7" name="Image 0" descr="/tmp/lfr-pptx/assets/sensorpredic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2057400"/>
            <a:ext cx="5577840" cy="3977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583680" y="1920240"/>
            <a:ext cx="5120640" cy="4251960"/>
          </a:xfrm>
          <a:prstGeom prst="rect">
            <a:avLst>
              <a:gd name="adj" fmla="val 2581"/>
            </a:avLst>
          </a:prstGeom>
          <a:solidFill>
            <a:srgbClr val="E8EEF5"/>
          </a:solidFill>
          <a:ln w="12700">
            <a:solidFill>
              <a:srgbClr val="D6DEE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583680" y="1920240"/>
            <a:ext cx="5120640" cy="91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972800" y="2194560"/>
            <a:ext cx="548640" cy="5486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9728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858000" y="22402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858000" y="2578608"/>
            <a:ext cx="45720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e opera Soft Sensors em tempo real para inferir qualidade em processos não lineares. Substitui análises de laboratório por estimativas online de alta correlação.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858000" y="40690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858000" y="4370832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PLS, LSTM e híbridos
</a:t>
            </a:r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Reciclagem automática de modelos
</a:t>
            </a:r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Publicação OPC-UA para CLP/SDCD
</a:t>
            </a:r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Inferência de qualidade em tempo real
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858000" y="5669280"/>
            <a:ext cx="1133856" cy="310896"/>
          </a:xfrm>
          <a:prstGeom prst="rect">
            <a:avLst>
              <a:gd name="adj" fmla="val 50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58000" y="5669280"/>
            <a:ext cx="1133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Sensors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8083296" y="5669280"/>
            <a:ext cx="434340" cy="310896"/>
          </a:xfrm>
          <a:prstGeom prst="rect">
            <a:avLst>
              <a:gd name="adj" fmla="val 50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83296" y="5669280"/>
            <a:ext cx="4343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8609076" y="5669280"/>
            <a:ext cx="512064" cy="310896"/>
          </a:xfrm>
          <a:prstGeom prst="rect">
            <a:avLst>
              <a:gd name="adj" fmla="val 50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609076" y="5669280"/>
            <a:ext cx="51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9212580" y="5669280"/>
            <a:ext cx="667512" cy="310896"/>
          </a:xfrm>
          <a:prstGeom prst="rect">
            <a:avLst>
              <a:gd name="adj" fmla="val 50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212580" y="5669280"/>
            <a:ext cx="667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OPC-UA</a:t>
            </a:r>
            <a:endParaRPr lang="en-US" sz="900" dirty="0"/>
          </a:p>
        </p:txBody>
      </p:sp>
      <p:pic>
        <p:nvPicPr>
          <p:cNvPr id="24" name="Image 1" descr="/tmp/lfr-pptx/assets/lfr-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510528"/>
            <a:ext cx="201168" cy="20116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749808" y="646480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LFR Automação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2212848" y="646480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2377440" y="646480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Tríade Automação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9875520" y="64648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Parceria Estratégica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04 / 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430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VirtualSieve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granulométrica por visão computacional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5852160" cy="4251960"/>
          </a:xfrm>
          <a:prstGeom prst="rect">
            <a:avLst>
              <a:gd name="adj" fmla="val 2581"/>
            </a:avLst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pic>
        <p:nvPicPr>
          <p:cNvPr id="7" name="Image 0" descr="/tmp/lfr-pptx/assets/virtualsiev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2057400"/>
            <a:ext cx="5577840" cy="3977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583680" y="1920240"/>
            <a:ext cx="5120640" cy="4251960"/>
          </a:xfrm>
          <a:prstGeom prst="rect">
            <a:avLst>
              <a:gd name="adj" fmla="val 2581"/>
            </a:avLst>
          </a:prstGeom>
          <a:solidFill>
            <a:srgbClr val="E8EEF5"/>
          </a:solidFill>
          <a:ln w="12700">
            <a:solidFill>
              <a:srgbClr val="D6DEE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583680" y="1920240"/>
            <a:ext cx="5120640" cy="91440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972800" y="2194560"/>
            <a:ext cx="548640" cy="548640"/>
          </a:xfrm>
          <a:prstGeom prst="ellipse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9728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858000" y="22402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858000" y="2578608"/>
            <a:ext cx="45720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granulométrica industrial em tempo real através de visão computacional, substituindo peneiramentos manuais demorados. Operação contínua direto na correia.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858000" y="40690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858000" y="4370832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Segmentação por instância em alta resolução
</a:t>
            </a:r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P10/P50/P80 em tempo real
</a:t>
            </a:r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FastAPI + Next.js
</a:t>
            </a:r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SCADA via OPC-UA
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858000" y="5669280"/>
            <a:ext cx="745236" cy="310896"/>
          </a:xfrm>
          <a:prstGeom prst="rect">
            <a:avLst>
              <a:gd name="adj" fmla="val 50000"/>
            </a:avLst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58000" y="5669280"/>
            <a:ext cx="7452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7694676" y="5669280"/>
            <a:ext cx="745236" cy="310896"/>
          </a:xfrm>
          <a:prstGeom prst="rect">
            <a:avLst>
              <a:gd name="adj" fmla="val 50000"/>
            </a:avLst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694676" y="5669280"/>
            <a:ext cx="7452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8531352" y="5669280"/>
            <a:ext cx="1056132" cy="310896"/>
          </a:xfrm>
          <a:prstGeom prst="rect">
            <a:avLst>
              <a:gd name="adj" fmla="val 50000"/>
            </a:avLst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531352" y="5669280"/>
            <a:ext cx="10561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Segmentação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9678924" y="5669280"/>
            <a:ext cx="356616" cy="310896"/>
          </a:xfrm>
          <a:prstGeom prst="rect">
            <a:avLst>
              <a:gd name="adj" fmla="val 50000"/>
            </a:avLst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678924" y="5669280"/>
            <a:ext cx="356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</a:t>
            </a:r>
            <a:endParaRPr lang="en-US" sz="900" dirty="0"/>
          </a:p>
        </p:txBody>
      </p:sp>
      <p:pic>
        <p:nvPicPr>
          <p:cNvPr id="24" name="Image 1" descr="/tmp/lfr-pptx/assets/lfr-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510528"/>
            <a:ext cx="201168" cy="20116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749808" y="646480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LFR Automação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2212848" y="646480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2377440" y="646480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Tríade Automação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9875520" y="64648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Parceria Estratégica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05 / 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430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OpcUA Wrapper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Ponte OPC DA legado → OPC-UA moderno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5852160" cy="4251960"/>
          </a:xfrm>
          <a:prstGeom prst="rect">
            <a:avLst>
              <a:gd name="adj" fmla="val 2581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pic>
        <p:nvPicPr>
          <p:cNvPr id="7" name="Image 0" descr="/tmp/lfr-pptx/assets/opcua-wrapp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2057400"/>
            <a:ext cx="5577840" cy="3977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583680" y="1920240"/>
            <a:ext cx="5120640" cy="4251960"/>
          </a:xfrm>
          <a:prstGeom prst="rect">
            <a:avLst>
              <a:gd name="adj" fmla="val 2581"/>
            </a:avLst>
          </a:prstGeom>
          <a:solidFill>
            <a:srgbClr val="E8EEF5"/>
          </a:solidFill>
          <a:ln w="12700">
            <a:solidFill>
              <a:srgbClr val="D6DEE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583680" y="1920240"/>
            <a:ext cx="5120640" cy="914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972800" y="2194560"/>
            <a:ext cx="548640" cy="54864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9728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858000" y="22402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858000" y="2578608"/>
            <a:ext cx="45720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 servidores OPC DA legados e expõe os dados em endpoint OPC-UA padrão. Inclui configurador visual e roda como serviço Windows — sem alterar o legado.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858000" y="40690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858000" y="4370832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OPC DA → OPC-UA transparente
</a:t>
            </a:r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Configurador visual de mapeamento
</a:t>
            </a:r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 Windows com auto-restart
</a:t>
            </a:r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Pronto para IIoT e cloud connectors
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858000" y="5669280"/>
            <a:ext cx="667512" cy="310896"/>
          </a:xfrm>
          <a:prstGeom prst="rect">
            <a:avLst>
              <a:gd name="adj" fmla="val 50000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58000" y="5669280"/>
            <a:ext cx="667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 DA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7616952" y="5669280"/>
            <a:ext cx="667512" cy="310896"/>
          </a:xfrm>
          <a:prstGeom prst="rect">
            <a:avLst>
              <a:gd name="adj" fmla="val 50000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616952" y="5669280"/>
            <a:ext cx="667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OPC-UA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8375904" y="5669280"/>
            <a:ext cx="1056132" cy="310896"/>
          </a:xfrm>
          <a:prstGeom prst="rect">
            <a:avLst>
              <a:gd name="adj" fmla="val 50000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375904" y="5669280"/>
            <a:ext cx="10561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Svc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9523476" y="5669280"/>
            <a:ext cx="512064" cy="310896"/>
          </a:xfrm>
          <a:prstGeom prst="rect">
            <a:avLst>
              <a:gd name="adj" fmla="val 50000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523476" y="5669280"/>
            <a:ext cx="51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IIoT</a:t>
            </a:r>
            <a:endParaRPr lang="en-US" sz="900" dirty="0"/>
          </a:p>
        </p:txBody>
      </p:sp>
      <p:pic>
        <p:nvPicPr>
          <p:cNvPr id="24" name="Image 1" descr="/tmp/lfr-pptx/assets/lfr-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510528"/>
            <a:ext cx="201168" cy="20116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749808" y="646480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LFR Automação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2212848" y="646480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2377440" y="646480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Tríade Automação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9875520" y="64648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Parceria Estratégica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06 / 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430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Tríade Energia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 consumo, demanda e custo de energia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5852160" cy="4251960"/>
          </a:xfrm>
          <a:prstGeom prst="rect">
            <a:avLst>
              <a:gd name="adj" fmla="val 2581"/>
            </a:avLst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pic>
        <p:nvPicPr>
          <p:cNvPr id="7" name="Image 0" descr="/tmp/lfr-pptx/assets/triade-energi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2057400"/>
            <a:ext cx="5577840" cy="3977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583680" y="1920240"/>
            <a:ext cx="5120640" cy="4251960"/>
          </a:xfrm>
          <a:prstGeom prst="rect">
            <a:avLst>
              <a:gd name="adj" fmla="val 2581"/>
            </a:avLst>
          </a:prstGeom>
          <a:solidFill>
            <a:srgbClr val="E8EEF5"/>
          </a:solidFill>
          <a:ln w="12700">
            <a:solidFill>
              <a:srgbClr val="D6DEE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583680" y="1920240"/>
            <a:ext cx="5120640" cy="91440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972800" y="2194560"/>
            <a:ext cx="548640" cy="548640"/>
          </a:xfrm>
          <a:prstGeom prst="ellipse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9728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858000" y="22402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858000" y="2578608"/>
            <a:ext cx="45720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centralizado de consumo elétrico, análise de demanda de pico e controle de custos industriais em tempo real. KPIs operacionais e relatórios automatizados.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858000" y="40690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858000" y="4370832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de consumo, demanda e fator de potência
</a:t>
            </a:r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Alarmes de ultrapassagem contratada
</a:t>
            </a:r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 automatizados por planta
</a:t>
            </a:r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longo para análise de tarifa
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858000" y="5669280"/>
            <a:ext cx="1289304" cy="310896"/>
          </a:xfrm>
          <a:prstGeom prst="rect">
            <a:avLst>
              <a:gd name="adj" fmla="val 50000"/>
            </a:avLst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58000" y="5669280"/>
            <a:ext cx="1289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Energia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8238744" y="5669280"/>
            <a:ext cx="512064" cy="310896"/>
          </a:xfrm>
          <a:prstGeom prst="rect">
            <a:avLst>
              <a:gd name="adj" fmla="val 50000"/>
            </a:avLst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38744" y="5669280"/>
            <a:ext cx="51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8842248" y="5669280"/>
            <a:ext cx="745236" cy="310896"/>
          </a:xfrm>
          <a:prstGeom prst="rect">
            <a:avLst>
              <a:gd name="adj" fmla="val 50000"/>
            </a:avLst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842248" y="5669280"/>
            <a:ext cx="7452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9678924" y="5669280"/>
            <a:ext cx="978408" cy="310896"/>
          </a:xfrm>
          <a:prstGeom prst="rect">
            <a:avLst>
              <a:gd name="adj" fmla="val 50000"/>
            </a:avLst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678924" y="5669280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</a:t>
            </a:r>
            <a:endParaRPr lang="en-US" sz="900" dirty="0"/>
          </a:p>
        </p:txBody>
      </p:sp>
      <p:pic>
        <p:nvPicPr>
          <p:cNvPr id="24" name="Image 1" descr="/tmp/lfr-pptx/assets/lfr-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510528"/>
            <a:ext cx="201168" cy="20116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749808" y="646480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LFR Automação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2212848" y="646480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2377440" y="646480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Tríade Automação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9875520" y="64648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Parceria Estratégica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07 / 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430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UPS-Monitor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Telemetria centralizada de nobreaks corporativos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5852160" cy="4251960"/>
          </a:xfrm>
          <a:prstGeom prst="rect">
            <a:avLst>
              <a:gd name="adj" fmla="val 2581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7" name="Image 0" descr="/tmp/lfr-pptx/assets/ups-monitor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2057400"/>
            <a:ext cx="5577840" cy="3977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583680" y="1920240"/>
            <a:ext cx="5120640" cy="4251960"/>
          </a:xfrm>
          <a:prstGeom prst="rect">
            <a:avLst>
              <a:gd name="adj" fmla="val 2581"/>
            </a:avLst>
          </a:prstGeom>
          <a:solidFill>
            <a:srgbClr val="E8EEF5"/>
          </a:solidFill>
          <a:ln w="12700">
            <a:solidFill>
              <a:srgbClr val="D6DEE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583680" y="1920240"/>
            <a:ext cx="5120640" cy="91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972800" y="2194560"/>
            <a:ext cx="548640" cy="5486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9728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858000" y="22402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858000" y="2578608"/>
            <a:ext cx="45720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Telemetria e gestão centralizada de nobreaks corporativos. Integração SNMP e IoT via LoRaWAN, motor de alarmes configuráveis e mapa geográfico de ativos.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858000" y="40690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858000" y="4370832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 SNMP + LoRaWAN para sites remotos
</a:t>
            </a:r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alarmes com regras customizáveis
</a:t>
            </a:r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geográfico de UPS distribuídos
</a:t>
            </a:r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de baterias e eventos críticos
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858000" y="5669280"/>
            <a:ext cx="434340" cy="310896"/>
          </a:xfrm>
          <a:prstGeom prst="rect">
            <a:avLst>
              <a:gd name="adj" fmla="val 50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58000" y="5669280"/>
            <a:ext cx="4343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7383780" y="5669280"/>
            <a:ext cx="745236" cy="310896"/>
          </a:xfrm>
          <a:prstGeom prst="rect">
            <a:avLst>
              <a:gd name="adj" fmla="val 50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83780" y="5669280"/>
            <a:ext cx="7452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LoRaWAN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8220456" y="5669280"/>
            <a:ext cx="512064" cy="310896"/>
          </a:xfrm>
          <a:prstGeom prst="rect">
            <a:avLst>
              <a:gd name="adj" fmla="val 50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20456" y="5669280"/>
            <a:ext cx="51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SNMP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8823960" y="5669280"/>
            <a:ext cx="978408" cy="310896"/>
          </a:xfrm>
          <a:prstGeom prst="rect">
            <a:avLst>
              <a:gd name="adj" fmla="val 50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823960" y="5669280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Telemetria</a:t>
            </a:r>
            <a:endParaRPr lang="en-US" sz="900" dirty="0"/>
          </a:p>
        </p:txBody>
      </p:sp>
      <p:pic>
        <p:nvPicPr>
          <p:cNvPr id="24" name="Image 1" descr="/tmp/lfr-pptx/assets/lfr-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510528"/>
            <a:ext cx="201168" cy="20116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749808" y="646480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LFR Automação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2212848" y="646480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2377440" y="646480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Tríade Automação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9875520" y="64648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Parceria Estratégica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08 / 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430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TermoCar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de instrumentação e medição térmica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5852160" cy="4251960"/>
          </a:xfrm>
          <a:prstGeom prst="rect">
            <a:avLst>
              <a:gd name="adj" fmla="val 2581"/>
            </a:avLst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37560" y="2766060"/>
            <a:ext cx="1828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17520" y="4320540"/>
            <a:ext cx="822960" cy="822960"/>
          </a:xfrm>
          <a:prstGeom prst="ellipse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64408" y="2628900"/>
            <a:ext cx="329184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0" y="432054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°C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3044952" y="3040380"/>
            <a:ext cx="164592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44952" y="3369564"/>
            <a:ext cx="164592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44952" y="3698748"/>
            <a:ext cx="164592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44952" y="4027932"/>
            <a:ext cx="164592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44952" y="4357116"/>
            <a:ext cx="164592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0" y="1920240"/>
            <a:ext cx="5120640" cy="4251960"/>
          </a:xfrm>
          <a:prstGeom prst="rect">
            <a:avLst>
              <a:gd name="adj" fmla="val 2581"/>
            </a:avLst>
          </a:prstGeom>
          <a:solidFill>
            <a:srgbClr val="E8EEF5"/>
          </a:solidFill>
          <a:ln w="12700">
            <a:solidFill>
              <a:srgbClr val="D6DE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0" y="1920240"/>
            <a:ext cx="5120640" cy="91440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972800" y="2194560"/>
            <a:ext cx="548640" cy="548640"/>
          </a:xfrm>
          <a:prstGeom prst="ellipse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0" y="22402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58000" y="2578608"/>
            <a:ext cx="45720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e solução completa de instrumentação especializada e medição de temperatura para processos industriais rigorosos. Catálogo, dimensionamento e suporte técnico.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58000" y="40690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0" y="4370832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Termopares e RTDs para processos críticos
</a:t>
            </a:r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Dimensionamento e seleção assistida
</a:t>
            </a:r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instrumentação especializada
</a:t>
            </a:r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técnico em projetos térmicos
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858000" y="5669280"/>
            <a:ext cx="1289304" cy="310896"/>
          </a:xfrm>
          <a:prstGeom prst="rect">
            <a:avLst>
              <a:gd name="adj" fmla="val 50000"/>
            </a:avLst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0" y="5669280"/>
            <a:ext cx="1289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Instrumentação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238744" y="5669280"/>
            <a:ext cx="1367028" cy="310896"/>
          </a:xfrm>
          <a:prstGeom prst="rect">
            <a:avLst>
              <a:gd name="adj" fmla="val 50000"/>
            </a:avLst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38744" y="5669280"/>
            <a:ext cx="13670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Medição Térmica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697212" y="5669280"/>
            <a:ext cx="978408" cy="310896"/>
          </a:xfrm>
          <a:prstGeom prst="rect">
            <a:avLst>
              <a:gd name="adj" fmla="val 50000"/>
            </a:avLst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97212" y="5669280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Termopares</a:t>
            </a:r>
            <a:endParaRPr lang="en-US" sz="900" dirty="0"/>
          </a:p>
        </p:txBody>
      </p:sp>
      <p:pic>
        <p:nvPicPr>
          <p:cNvPr id="30" name="Image 0" descr="/tmp/lfr-pptx/assets/lfr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510528"/>
            <a:ext cx="201168" cy="201168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749808" y="646480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LFR Automação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2212848" y="646480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2377440" y="646480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Tríade Automação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9875520" y="64648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Parceria Estratégica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09 / 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430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MENTOR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Engine for Notification, Triage &amp; Operator Response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5852160" cy="4251960"/>
          </a:xfrm>
          <a:prstGeom prst="rect">
            <a:avLst>
              <a:gd name="adj" fmla="val 2581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pic>
        <p:nvPicPr>
          <p:cNvPr id="7" name="Image 0" descr="/tmp/lfr-pptx/assets/mento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2057400"/>
            <a:ext cx="5577840" cy="3977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583680" y="1920240"/>
            <a:ext cx="5120640" cy="4251960"/>
          </a:xfrm>
          <a:prstGeom prst="rect">
            <a:avLst>
              <a:gd name="adj" fmla="val 2581"/>
            </a:avLst>
          </a:prstGeom>
          <a:solidFill>
            <a:srgbClr val="E8EEF5"/>
          </a:solidFill>
          <a:ln w="12700">
            <a:solidFill>
              <a:srgbClr val="D6DEE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583680" y="1920240"/>
            <a:ext cx="5120640" cy="914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972800" y="2194560"/>
            <a:ext cx="548640" cy="54864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9728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858000" y="22402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858000" y="2578608"/>
            <a:ext cx="45720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Assistência cognitiva ao operador de planta industrial: RAG sobre documentação técnica + triagem de alarmes do supervisório + orientação reativa via LLM local. Conformidade ANSI/ISA-18.2 e ISA-101.01.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858000" y="40690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858000" y="4370832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sobre PDF/DOCX/XLSX com LlamaIndex
</a:t>
            </a:r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Triagem de alarmes do supervisório (SQL Server)
</a:t>
            </a:r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local via Ollama — on-premises e ar-gap
</a:t>
            </a:r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FastAPI + Next.js 15 + pgvector + Redis
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858000" y="5669280"/>
            <a:ext cx="434340" cy="310896"/>
          </a:xfrm>
          <a:prstGeom prst="rect">
            <a:avLst>
              <a:gd name="adj" fmla="val 50000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58000" y="5669280"/>
            <a:ext cx="4343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7383780" y="5669280"/>
            <a:ext cx="900684" cy="310896"/>
          </a:xfrm>
          <a:prstGeom prst="rect">
            <a:avLst>
              <a:gd name="adj" fmla="val 50000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83780" y="5669280"/>
            <a:ext cx="9006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Local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8375904" y="5669280"/>
            <a:ext cx="822960" cy="310896"/>
          </a:xfrm>
          <a:prstGeom prst="rect">
            <a:avLst>
              <a:gd name="adj" fmla="val 50000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375904" y="566928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ISA-18.2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9290304" y="5669280"/>
            <a:ext cx="667512" cy="310896"/>
          </a:xfrm>
          <a:prstGeom prst="rect">
            <a:avLst>
              <a:gd name="adj" fmla="val 50000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290304" y="5669280"/>
            <a:ext cx="667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900" dirty="0"/>
          </a:p>
        </p:txBody>
      </p:sp>
      <p:pic>
        <p:nvPicPr>
          <p:cNvPr id="24" name="Image 1" descr="/tmp/lfr-pptx/assets/lfr-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510528"/>
            <a:ext cx="201168" cy="20116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749808" y="646480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LFR Automação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2212848" y="646480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2377440" y="646480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Tríade Automação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9875520" y="64648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Parceria Estratégica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10 / 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430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TAM — Tríade Asset Monitor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de saúde de baterias WHART industriais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5852160" cy="4251960"/>
          </a:xfrm>
          <a:prstGeom prst="rect">
            <a:avLst>
              <a:gd name="adj" fmla="val 2581"/>
            </a:avLst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48840" y="3863340"/>
            <a:ext cx="2560320" cy="1097280"/>
          </a:xfrm>
          <a:prstGeom prst="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09160" y="4183380"/>
            <a:ext cx="1371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13432" y="4027932"/>
            <a:ext cx="347472" cy="768096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70632" y="4027932"/>
            <a:ext cx="347472" cy="768096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27832" y="4027932"/>
            <a:ext cx="347472" cy="768096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85032" y="4027932"/>
            <a:ext cx="347472" cy="768096"/>
          </a:xfrm>
          <a:prstGeom prst="rect">
            <a:avLst/>
          </a:prstGeom>
          <a:solidFill>
            <a:srgbClr val="E8EEF5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42232" y="4027932"/>
            <a:ext cx="347472" cy="768096"/>
          </a:xfrm>
          <a:prstGeom prst="rect">
            <a:avLst/>
          </a:prstGeom>
          <a:solidFill>
            <a:srgbClr val="E8EEF5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17520" y="3268980"/>
            <a:ext cx="822960" cy="822960"/>
          </a:xfrm>
          <a:prstGeom prst="ellipse">
            <a:avLst/>
          </a:prstGeom>
          <a:solidFill>
            <a:srgbClr val="0A1F3D"/>
          </a:solidFill>
          <a:ln w="38100">
            <a:solidFill>
              <a:srgbClr val="F2B5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97480" y="2948940"/>
            <a:ext cx="1463040" cy="1463040"/>
          </a:xfrm>
          <a:prstGeom prst="ellipse">
            <a:avLst/>
          </a:prstGeom>
          <a:solidFill>
            <a:srgbClr val="0A1F3D"/>
          </a:solidFill>
          <a:ln w="38100">
            <a:solidFill>
              <a:srgbClr val="F2B5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77440" y="2628900"/>
            <a:ext cx="2103120" cy="2103120"/>
          </a:xfrm>
          <a:prstGeom prst="ellipse">
            <a:avLst/>
          </a:prstGeom>
          <a:solidFill>
            <a:srgbClr val="0A1F3D"/>
          </a:solidFill>
          <a:ln w="38100">
            <a:solidFill>
              <a:srgbClr val="F2B5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65960" y="3771900"/>
            <a:ext cx="2926080" cy="914400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48840" y="3863340"/>
            <a:ext cx="2560320" cy="1097280"/>
          </a:xfrm>
          <a:prstGeom prst="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9160" y="4183380"/>
            <a:ext cx="1371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13432" y="4027932"/>
            <a:ext cx="347472" cy="768096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70632" y="4027932"/>
            <a:ext cx="347472" cy="768096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27832" y="4027932"/>
            <a:ext cx="347472" cy="768096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85032" y="4027932"/>
            <a:ext cx="347472" cy="768096"/>
          </a:xfrm>
          <a:prstGeom prst="rect">
            <a:avLst/>
          </a:prstGeom>
          <a:solidFill>
            <a:srgbClr val="E8EEF5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42232" y="4027932"/>
            <a:ext cx="347472" cy="768096"/>
          </a:xfrm>
          <a:prstGeom prst="rect">
            <a:avLst/>
          </a:prstGeom>
          <a:solidFill>
            <a:srgbClr val="E8EEF5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14600" y="51435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6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WHART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583680" y="1920240"/>
            <a:ext cx="5120640" cy="4251960"/>
          </a:xfrm>
          <a:prstGeom prst="rect">
            <a:avLst>
              <a:gd name="adj" fmla="val 2581"/>
            </a:avLst>
          </a:prstGeom>
          <a:solidFill>
            <a:srgbClr val="E8EEF5"/>
          </a:solidFill>
          <a:ln w="12700">
            <a:solidFill>
              <a:srgbClr val="D6DE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3680" y="1920240"/>
            <a:ext cx="5120640" cy="91440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972800" y="2194560"/>
            <a:ext cx="548640" cy="548640"/>
          </a:xfrm>
          <a:prstGeom prst="ellipse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9728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58000" y="22402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858000" y="2578608"/>
            <a:ext cx="45720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 tensão de baterias de instrumentos WHART via OPC-UA, armazena séries em TimescaleDB, exibe dashboard em tempo real e dispara alertas e-mail/SMS quando a tensão cai.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858000" y="40690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858000" y="4370832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OPC-UA assíncrona (asyncua)
</a:t>
            </a:r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Séries temporais em TimescaleDB
</a:t>
            </a:r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web tempo real Next.js 14
</a:t>
            </a:r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e-mail/SMS por threshold
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858000" y="5669280"/>
            <a:ext cx="589788" cy="310896"/>
          </a:xfrm>
          <a:prstGeom prst="rect">
            <a:avLst>
              <a:gd name="adj" fmla="val 50000"/>
            </a:avLst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5669280"/>
            <a:ext cx="5897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WHART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539228" y="5669280"/>
            <a:ext cx="667512" cy="310896"/>
          </a:xfrm>
          <a:prstGeom prst="rect">
            <a:avLst>
              <a:gd name="adj" fmla="val 50000"/>
            </a:avLst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39228" y="5669280"/>
            <a:ext cx="667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OPC-UA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298180" y="5669280"/>
            <a:ext cx="1056132" cy="310896"/>
          </a:xfrm>
          <a:prstGeom prst="rect">
            <a:avLst>
              <a:gd name="adj" fmla="val 50000"/>
            </a:avLst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98180" y="5669280"/>
            <a:ext cx="10561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TimescaleDB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9445752" y="5669280"/>
            <a:ext cx="745236" cy="310896"/>
          </a:xfrm>
          <a:prstGeom prst="rect">
            <a:avLst>
              <a:gd name="adj" fmla="val 50000"/>
            </a:avLst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445752" y="5669280"/>
            <a:ext cx="7452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900" dirty="0"/>
          </a:p>
        </p:txBody>
      </p:sp>
      <p:pic>
        <p:nvPicPr>
          <p:cNvPr id="42" name="Image 0" descr="/tmp/lfr-pptx/assets/lfr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510528"/>
            <a:ext cx="201168" cy="201168"/>
          </a:xfrm>
          <a:prstGeom prst="rect">
            <a:avLst/>
          </a:prstGeom>
        </p:spPr>
      </p:pic>
      <p:sp>
        <p:nvSpPr>
          <p:cNvPr id="43" name="Text 40"/>
          <p:cNvSpPr/>
          <p:nvPr/>
        </p:nvSpPr>
        <p:spPr>
          <a:xfrm>
            <a:off x="749808" y="646480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LFR Automação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2212848" y="646480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2377440" y="646480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Tríade Automação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9875520" y="64648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Parceria Estratégica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11 / 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430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OttimaSystem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MPC industrial Linux-first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5852160" cy="4251960"/>
          </a:xfrm>
          <a:prstGeom prst="rect">
            <a:avLst>
              <a:gd name="adj" fmla="val 2581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17320" y="2766060"/>
            <a:ext cx="4023360" cy="219456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23160" y="2857500"/>
            <a:ext cx="13716" cy="2011680"/>
          </a:xfrm>
          <a:prstGeom prst="rect">
            <a:avLst/>
          </a:prstGeom>
          <a:solidFill>
            <a:srgbClr val="D6DEEA"/>
          </a:solidFill>
          <a:ln w="12700">
            <a:solidFill>
              <a:srgbClr val="D6DE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08760" y="3314700"/>
            <a:ext cx="3840480" cy="13716"/>
          </a:xfrm>
          <a:prstGeom prst="rect">
            <a:avLst/>
          </a:prstGeom>
          <a:solidFill>
            <a:srgbClr val="D6DEEA"/>
          </a:solidFill>
          <a:ln w="12700">
            <a:solidFill>
              <a:srgbClr val="D6DE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2857500"/>
            <a:ext cx="13716" cy="2011680"/>
          </a:xfrm>
          <a:prstGeom prst="rect">
            <a:avLst/>
          </a:prstGeom>
          <a:solidFill>
            <a:srgbClr val="D6DEEA"/>
          </a:solidFill>
          <a:ln w="12700">
            <a:solidFill>
              <a:srgbClr val="D6DE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08760" y="3863340"/>
            <a:ext cx="3840480" cy="13716"/>
          </a:xfrm>
          <a:prstGeom prst="rect">
            <a:avLst/>
          </a:prstGeom>
          <a:solidFill>
            <a:srgbClr val="D6DEEA"/>
          </a:solidFill>
          <a:ln w="12700">
            <a:solidFill>
              <a:srgbClr val="D6DE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34840" y="2857500"/>
            <a:ext cx="13716" cy="2011680"/>
          </a:xfrm>
          <a:prstGeom prst="rect">
            <a:avLst/>
          </a:prstGeom>
          <a:solidFill>
            <a:srgbClr val="D6DEEA"/>
          </a:solidFill>
          <a:ln w="12700">
            <a:solidFill>
              <a:srgbClr val="D6DE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08760" y="4411980"/>
            <a:ext cx="3840480" cy="13716"/>
          </a:xfrm>
          <a:prstGeom prst="rect">
            <a:avLst/>
          </a:prstGeom>
          <a:solidFill>
            <a:srgbClr val="D6DEEA"/>
          </a:solidFill>
          <a:ln w="12700">
            <a:solidFill>
              <a:srgbClr val="D6DE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54480" y="3643884"/>
            <a:ext cx="128016" cy="36576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764792" y="3643884"/>
            <a:ext cx="128016" cy="36576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75104" y="3643884"/>
            <a:ext cx="128016" cy="36576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85416" y="3643884"/>
            <a:ext cx="128016" cy="36576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95728" y="3643884"/>
            <a:ext cx="128016" cy="36576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06040" y="3643884"/>
            <a:ext cx="128016" cy="36576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16352" y="3643884"/>
            <a:ext cx="128016" cy="36576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26664" y="3643884"/>
            <a:ext cx="128016" cy="36576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36976" y="3643884"/>
            <a:ext cx="128016" cy="36576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47288" y="3643884"/>
            <a:ext cx="128016" cy="36576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0" y="3643884"/>
            <a:ext cx="128016" cy="36576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67912" y="3643884"/>
            <a:ext cx="128016" cy="36576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078224" y="3643884"/>
            <a:ext cx="128016" cy="36576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88536" y="3643884"/>
            <a:ext cx="128016" cy="36576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98848" y="3643884"/>
            <a:ext cx="128016" cy="36576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09160" y="3643884"/>
            <a:ext cx="128016" cy="36576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919472" y="3643884"/>
            <a:ext cx="128016" cy="36576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129784" y="3643884"/>
            <a:ext cx="128016" cy="36576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527048" y="4558284"/>
            <a:ext cx="146304" cy="14630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984248" y="4229100"/>
            <a:ext cx="146304" cy="14630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rot="-2145233">
            <a:off x="1547111" y="4439412"/>
            <a:ext cx="563377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441448" y="3965753"/>
            <a:ext cx="146304" cy="14630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rot="-1796517">
            <a:off x="2022190" y="4143146"/>
            <a:ext cx="527621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898648" y="3790188"/>
            <a:ext cx="146304" cy="14630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rot="-1260407">
            <a:off x="2498325" y="3923690"/>
            <a:ext cx="48975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355848" y="3680460"/>
            <a:ext cx="146304" cy="14630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rot="-809744">
            <a:off x="2965308" y="3781044"/>
            <a:ext cx="470183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813048" y="3614623"/>
            <a:ext cx="146304" cy="14630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rot="-491656">
            <a:off x="3426642" y="3693262"/>
            <a:ext cx="461916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270248" y="3592678"/>
            <a:ext cx="146304" cy="14630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rot="-164885">
            <a:off x="3885937" y="3649370"/>
            <a:ext cx="457726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27448" y="3570732"/>
            <a:ext cx="146304" cy="14630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rot="-164885">
            <a:off x="4343137" y="3627425"/>
            <a:ext cx="457726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14600" y="50520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8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MPC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4434840" y="31866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i="1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setpoint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583680" y="1920240"/>
            <a:ext cx="5120640" cy="4251960"/>
          </a:xfrm>
          <a:prstGeom prst="rect">
            <a:avLst>
              <a:gd name="adj" fmla="val 2581"/>
            </a:avLst>
          </a:prstGeom>
          <a:solidFill>
            <a:srgbClr val="E8EEF5"/>
          </a:solidFill>
          <a:ln w="12700">
            <a:solidFill>
              <a:srgbClr val="D6DEE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583680" y="1920240"/>
            <a:ext cx="5120640" cy="91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972800" y="2194560"/>
            <a:ext cx="548640" cy="5486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9728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6858000" y="22402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858000" y="2578608"/>
            <a:ext cx="45720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 Controle Preditivo (MPC) industrial em Python 3.12. Roda como serviço systemd com IPC gRPC (UDS local + TLS remoto). Frontend Angular SPA. Integração OPC-UA + Historian PostgreSQL.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6858000" y="40690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CAPACIDADES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858000" y="4370832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hexagonal — zero I/O no domínio
</a:t>
            </a:r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MPC com do-mpc + block graph engine
</a:t>
            </a:r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gRPC IPC: UDS local + TCP/TLS remoto
</a:t>
            </a:r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OPC-UA asyncua + Historian time-series
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6858000" y="5669280"/>
            <a:ext cx="434340" cy="310896"/>
          </a:xfrm>
          <a:prstGeom prst="rect">
            <a:avLst>
              <a:gd name="adj" fmla="val 50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858000" y="5669280"/>
            <a:ext cx="4343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MPC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383780" y="5669280"/>
            <a:ext cx="667512" cy="310896"/>
          </a:xfrm>
          <a:prstGeom prst="rect">
            <a:avLst>
              <a:gd name="adj" fmla="val 50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383780" y="5669280"/>
            <a:ext cx="667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do-mpc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8142732" y="5669280"/>
            <a:ext cx="512064" cy="310896"/>
          </a:xfrm>
          <a:prstGeom prst="rect">
            <a:avLst>
              <a:gd name="adj" fmla="val 50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142732" y="5669280"/>
            <a:ext cx="51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gRPC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8746236" y="5669280"/>
            <a:ext cx="745236" cy="310896"/>
          </a:xfrm>
          <a:prstGeom prst="rect">
            <a:avLst>
              <a:gd name="adj" fmla="val 50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746236" y="5669280"/>
            <a:ext cx="7452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</a:t>
            </a:r>
            <a:endParaRPr lang="en-US" sz="900" dirty="0"/>
          </a:p>
        </p:txBody>
      </p:sp>
      <p:pic>
        <p:nvPicPr>
          <p:cNvPr id="65" name="Image 0" descr="/tmp/lfr-pptx/assets/lfr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510528"/>
            <a:ext cx="201168" cy="201168"/>
          </a:xfrm>
          <a:prstGeom prst="rect">
            <a:avLst/>
          </a:prstGeom>
        </p:spPr>
      </p:pic>
      <p:sp>
        <p:nvSpPr>
          <p:cNvPr id="66" name="Text 63"/>
          <p:cNvSpPr/>
          <p:nvPr/>
        </p:nvSpPr>
        <p:spPr>
          <a:xfrm>
            <a:off x="749808" y="646480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LFR Automação</a:t>
            </a:r>
            <a:endParaRPr lang="en-US" sz="900" dirty="0"/>
          </a:p>
        </p:txBody>
      </p:sp>
      <p:sp>
        <p:nvSpPr>
          <p:cNvPr id="67" name="Text 64"/>
          <p:cNvSpPr/>
          <p:nvPr/>
        </p:nvSpPr>
        <p:spPr>
          <a:xfrm>
            <a:off x="2212848" y="646480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100" dirty="0"/>
          </a:p>
        </p:txBody>
      </p:sp>
      <p:sp>
        <p:nvSpPr>
          <p:cNvPr id="68" name="Text 65"/>
          <p:cNvSpPr/>
          <p:nvPr/>
        </p:nvSpPr>
        <p:spPr>
          <a:xfrm>
            <a:off x="2377440" y="646480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Tríade Automação</a:t>
            </a:r>
            <a:endParaRPr lang="en-US" sz="900" dirty="0"/>
          </a:p>
        </p:txBody>
      </p:sp>
      <p:sp>
        <p:nvSpPr>
          <p:cNvPr id="69" name="Text 66"/>
          <p:cNvSpPr/>
          <p:nvPr/>
        </p:nvSpPr>
        <p:spPr>
          <a:xfrm>
            <a:off x="9875520" y="64648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Parceria Estratégica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8EE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ESTA PARCERIA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430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Diferenciais competitivos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escolher LFR + Tríade para seu próximo projeto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011680"/>
            <a:ext cx="3611880" cy="1920240"/>
          </a:xfrm>
          <a:prstGeom prst="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240280"/>
            <a:ext cx="457200" cy="45720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22402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Engenharia explicável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78892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Soluções fundamentadas em controle clássico + IA aplicada. Cada decisão é auditável — não é caixa-preta.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79392" y="2011680"/>
            <a:ext cx="3611880" cy="1920240"/>
          </a:xfrm>
          <a:prstGeom prst="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07992" y="2240280"/>
            <a:ext cx="457200" cy="45720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07992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102352" y="22402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 multidisciplinar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53712" y="278892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de campo, instrumentação e ciência de dados industrial em um único contrato.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55864" y="2011680"/>
            <a:ext cx="3611880" cy="1920240"/>
          </a:xfrm>
          <a:prstGeom prst="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84464" y="2240280"/>
            <a:ext cx="457200" cy="45720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84464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878824" y="22402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Produtos prontos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30184" y="278892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soluções de software industrial em produção — encurta time-to-value do projeto.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4114800"/>
            <a:ext cx="3611880" cy="1920240"/>
          </a:xfrm>
          <a:prstGeom prst="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4343400"/>
            <a:ext cx="457200" cy="45720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25880" y="43434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Edge-first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7240" y="489204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Latência mínima, segurança cibernética e operação independente de conectividade.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279392" y="4114800"/>
            <a:ext cx="3611880" cy="1920240"/>
          </a:xfrm>
          <a:prstGeom prst="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07992" y="4343400"/>
            <a:ext cx="457200" cy="45720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07992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102352" y="43434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Multi-fabricante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53712" y="489204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com Siemens, Rockwell, Emerson, GE, Schneider — supervisórios diversos.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055864" y="4114800"/>
            <a:ext cx="3611880" cy="1920240"/>
          </a:xfrm>
          <a:prstGeom prst="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84464" y="4343400"/>
            <a:ext cx="457200" cy="45720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84464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878824" y="43434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Capilaridade industrial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330184" y="489204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Mineração, siderurgia, papel/celulose, alimentício, químico, petróleo &amp; gás.</a:t>
            </a:r>
            <a:endParaRPr lang="en-US" sz="1100" dirty="0"/>
          </a:p>
        </p:txBody>
      </p:sp>
      <p:pic>
        <p:nvPicPr>
          <p:cNvPr id="36" name="Image 0" descr="/tmp/lfr-pptx/assets/lfr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510528"/>
            <a:ext cx="201168" cy="201168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749808" y="646480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LFR Automação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2212848" y="646480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2377440" y="646480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Tríade Automação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9875520" y="64648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Parceria Estratégica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7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5029200"/>
            <a:ext cx="3657600" cy="36576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0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CONVERSAR?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Próximo passo: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uma reunião técnica.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Apresente seu desafio de processo. Nós trazemos o controle avançado, a instrumentação e a integração.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4114800"/>
            <a:ext cx="5486400" cy="2103120"/>
          </a:xfrm>
          <a:prstGeom prst="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0" descr="/tmp/lfr-pptx/assets/lfr-icon-bi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297680"/>
            <a:ext cx="640080" cy="6400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00200" y="42519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LFR Automação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600200" y="46177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Consultoria &amp; Controle Avançado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68680" y="4983480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  </a:t>
            </a:r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www.lfrautomacao.eng.br
</a:t>
            </a:r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 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luciano.rocha@lfrautomacao.eng.br
</a:t>
            </a:r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 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/in/lucianofr
</a:t>
            </a:r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Resp.   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Luciano França Rocha — Engenheiro Especialista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400800" y="4114800"/>
            <a:ext cx="5120640" cy="2103120"/>
          </a:xfrm>
          <a:prstGeom prst="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Image 1" descr="/tmp/lfr-pptx/assets/triade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4297680"/>
            <a:ext cx="1554480" cy="56692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229600" y="42519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Tríade Automação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8229600" y="46177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de Automação &amp; Instrumentação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6583680" y="498348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  </a:t>
            </a:r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www.triadeautomacao.com.br
</a:t>
            </a:r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 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triade@triadeautomacao.com.br
</a:t>
            </a:r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Fone   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(27) 3535-0444
</a:t>
            </a:r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Cel.    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(27) 99242-0031 (WhatsApp)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2B5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Obrigado.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LFR Automação | Tríade Automação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Soluções LFR Automação x Tríade Automação</dc:title>
  <dc:subject>PptxGenJS Presentation</dc:subject>
  <dc:creator>LFR Automação</dc:creator>
  <cp:lastModifiedBy>LFR Automação</cp:lastModifiedBy>
  <cp:revision>1</cp:revision>
  <dcterms:created xsi:type="dcterms:W3CDTF">2026-05-13T14:22:35Z</dcterms:created>
  <dcterms:modified xsi:type="dcterms:W3CDTF">2026-05-13T14:22:35Z</dcterms:modified>
</cp:coreProperties>
</file>